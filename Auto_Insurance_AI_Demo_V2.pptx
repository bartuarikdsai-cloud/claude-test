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Ratio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22C55E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22C55E"/>
              </a:solidFill>
            </c:spPr>
          </c:dPt>
          <c:dPt>
            <c:idx val="5"/>
            <c:spPr>
              <a:solidFill>
                <a:srgbClr val="EF4444"/>
              </a:solidFill>
            </c:spPr>
          </c:dPt>
          <c:cat>
            <c:strRef>
              <c:f>Sheet1!$A$2:$A$7</c:f>
              <c:strCache>
                <c:ptCount val="6"/>
                <c:pt idx="0">
                  <c:v>18-24</c:v>
                </c:pt>
                <c:pt idx="1">
                  <c:v>25-34</c:v>
                </c:pt>
                <c:pt idx="2">
                  <c:v>35-44</c:v>
                </c:pt>
                <c:pt idx="3">
                  <c:v>45-54</c:v>
                </c:pt>
                <c:pt idx="4">
                  <c:v>55-64</c:v>
                </c:pt>
                <c:pt idx="5">
                  <c:v>65+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74.84459331174293</c:v>
                </c:pt>
                <c:pt idx="1">
                  <c:v>65.50112298883676</c:v>
                </c:pt>
                <c:pt idx="2">
                  <c:v>70.30508995033637</c:v>
                </c:pt>
                <c:pt idx="3">
                  <c:v>72.9638014185643</c:v>
                </c:pt>
                <c:pt idx="4">
                  <c:v>66.62144385344851</c:v>
                </c:pt>
                <c:pt idx="5">
                  <c:v>85.56744212412964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8B8FA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100">
                    <a:solidFill>
                      <a:srgbClr val="8B8FA3"/>
                    </a:solidFill>
                  </a:defRPr>
                </a:pPr>
                <a:r>
                  <a:t>Loss Ratio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8B8FA3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Claims Frequency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Claims Freq %</c:v>
                </c:pt>
              </c:strCache>
            </c:strRef>
          </c:tx>
          <c:dPt>
            <c:idx val="0"/>
            <c:spPr>
              <a:solidFill>
                <a:srgbClr val="06B6D4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dPt>
            <c:idx val="2"/>
            <c:spPr>
              <a:solidFill>
                <a:srgbClr val="06B6D4"/>
              </a:solidFill>
            </c:spPr>
          </c:dPt>
          <c:dPt>
            <c:idx val="3"/>
            <c:spPr>
              <a:solidFill>
                <a:srgbClr val="06B6D4"/>
              </a:solidFill>
            </c:spPr>
          </c:dPt>
          <c:dPt>
            <c:idx val="4"/>
            <c:spPr>
              <a:solidFill>
                <a:srgbClr val="06B6D4"/>
              </a:solidFill>
            </c:spPr>
          </c:dPt>
          <c:dPt>
            <c:idx val="5"/>
            <c:spPr>
              <a:solidFill>
                <a:srgbClr val="06B6D4"/>
              </a:solidFill>
            </c:spPr>
          </c:dPt>
          <c:cat>
            <c:strRef>
              <c:f>Sheet1!$A$2:$A$7</c:f>
              <c:strCache>
                <c:ptCount val="6"/>
                <c:pt idx="0">
                  <c:v>18-24</c:v>
                </c:pt>
                <c:pt idx="1">
                  <c:v>25-34</c:v>
                </c:pt>
                <c:pt idx="2">
                  <c:v>35-44</c:v>
                </c:pt>
                <c:pt idx="3">
                  <c:v>45-54</c:v>
                </c:pt>
                <c:pt idx="4">
                  <c:v>55-64</c:v>
                </c:pt>
                <c:pt idx="5">
                  <c:v>65+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49.411764705882355</c:v>
                </c:pt>
                <c:pt idx="1">
                  <c:v>33.86816999132697</c:v>
                </c:pt>
                <c:pt idx="2">
                  <c:v>33.49738541987081</c:v>
                </c:pt>
                <c:pt idx="3">
                  <c:v>32.960893854748605</c:v>
                </c:pt>
                <c:pt idx="4">
                  <c:v>35.48740416210296</c:v>
                </c:pt>
                <c:pt idx="5">
                  <c:v>40.43715846994536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8B8FA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8B8FA3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818CF8"/>
                </a:solidFill>
              </a:defRPr>
            </a:pPr>
            <a:r>
              <a:t>Average Annual Premium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Premium $</c:v>
                </c:pt>
              </c:strCache>
            </c:strRef>
          </c:tx>
          <c:dPt>
            <c:idx val="0"/>
            <c:spPr>
              <a:solidFill>
                <a:srgbClr val="818C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818CF8"/>
              </a:solidFill>
            </c:spPr>
          </c:dPt>
          <c:dPt>
            <c:idx val="3"/>
            <c:spPr>
              <a:solidFill>
                <a:srgbClr val="818CF8"/>
              </a:solidFill>
            </c:spPr>
          </c:dPt>
          <c:dPt>
            <c:idx val="4"/>
            <c:spPr>
              <a:solidFill>
                <a:srgbClr val="818CF8"/>
              </a:solidFill>
            </c:spPr>
          </c:dPt>
          <c:dPt>
            <c:idx val="5"/>
            <c:spPr>
              <a:solidFill>
                <a:srgbClr val="818CF8"/>
              </a:solidFill>
            </c:spPr>
          </c:dPt>
          <c:cat>
            <c:strRef>
              <c:f>Sheet1!$A$2:$A$7</c:f>
              <c:strCache>
                <c:ptCount val="6"/>
                <c:pt idx="0">
                  <c:v>18-24</c:v>
                </c:pt>
                <c:pt idx="1">
                  <c:v>25-34</c:v>
                </c:pt>
                <c:pt idx="2">
                  <c:v>35-44</c:v>
                </c:pt>
                <c:pt idx="3">
                  <c:v>45-54</c:v>
                </c:pt>
                <c:pt idx="4">
                  <c:v>55-64</c:v>
                </c:pt>
                <c:pt idx="5">
                  <c:v>65+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2031.351049019608</c:v>
                </c:pt>
                <c:pt idx="1">
                  <c:v>1474.1415394622725</c:v>
                </c:pt>
                <c:pt idx="2">
                  <c:v>1395.153992617656</c:v>
                </c:pt>
                <c:pt idx="3">
                  <c:v>1393.3017791147402</c:v>
                </c:pt>
                <c:pt idx="4">
                  <c:v>1432.6532201533405</c:v>
                </c:pt>
                <c:pt idx="5">
                  <c:v>1561.6142076502733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8B8FA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8B8FA3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rgbClr val="6366F1"/>
            </a:solidFill>
          </c:spPr>
          <c:cat>
            <c:strRef>
              <c:f>Sheet1!$A$2:$A$7</c:f>
              <c:strCache>
                <c:ptCount val="6"/>
                <c:pt idx="0">
                  <c:v>18-24</c:v>
                </c:pt>
                <c:pt idx="1">
                  <c:v>25-34</c:v>
                </c:pt>
                <c:pt idx="2">
                  <c:v>35-44</c:v>
                </c:pt>
                <c:pt idx="3">
                  <c:v>45-54</c:v>
                </c:pt>
                <c:pt idx="4">
                  <c:v>55-64</c:v>
                </c:pt>
                <c:pt idx="5">
                  <c:v>65+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66.78070247947218</c:v>
                </c:pt>
                <c:pt idx="1">
                  <c:v>62.47482483732551</c:v>
                </c:pt>
                <c:pt idx="2">
                  <c:v>66.32053944008712</c:v>
                </c:pt>
                <c:pt idx="3">
                  <c:v>73.9179376784026</c:v>
                </c:pt>
                <c:pt idx="4">
                  <c:v>52.93281682389237</c:v>
                </c:pt>
                <c:pt idx="5">
                  <c:v>65.56766324277402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rgbClr val="EC4899"/>
            </a:solidFill>
          </c:spPr>
          <c:cat>
            <c:strRef>
              <c:f>Sheet1!$A$2:$A$7</c:f>
              <c:strCache>
                <c:ptCount val="6"/>
                <c:pt idx="0">
                  <c:v>18-24</c:v>
                </c:pt>
                <c:pt idx="1">
                  <c:v>25-34</c:v>
                </c:pt>
                <c:pt idx="2">
                  <c:v>35-44</c:v>
                </c:pt>
                <c:pt idx="3">
                  <c:v>45-54</c:v>
                </c:pt>
                <c:pt idx="4">
                  <c:v>55-64</c:v>
                </c:pt>
                <c:pt idx="5">
                  <c:v>65+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84.48041807596769</c:v>
                </c:pt>
                <c:pt idx="1">
                  <c:v>69.08689959862954</c:v>
                </c:pt>
                <c:pt idx="2">
                  <c:v>75.22450142075088</c:v>
                </c:pt>
                <c:pt idx="3">
                  <c:v>71.7565039732271</c:v>
                </c:pt>
                <c:pt idx="4">
                  <c:v>83.5899265601625</c:v>
                </c:pt>
                <c:pt idx="5">
                  <c:v>112.53933417188158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8B8FA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100">
                    <a:solidFill>
                      <a:srgbClr val="8B8FA3"/>
                    </a:solidFill>
                  </a:defRPr>
                </a:pPr>
                <a:r>
                  <a:t>Loss Ratio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8B8FA3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8B8FA3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dPt>
            <c:idx val="0"/>
            <c:spPr>
              <a:solidFill>
                <a:srgbClr val="22C55E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EF4444"/>
              </a:solidFill>
            </c:spPr>
          </c:dPt>
          <c:cat>
            <c:strRef>
              <c:f>Sheet1!$A$2:$A$5</c:f>
              <c:strCache>
                <c:ptCount val="4"/>
                <c:pt idx="0">
                  <c:v>Score 1-2</c:v>
                </c:pt>
                <c:pt idx="1">
                  <c:v>Score 3-4</c:v>
                </c:pt>
                <c:pt idx="2">
                  <c:v>Score 5-6</c:v>
                </c:pt>
                <c:pt idx="3">
                  <c:v>Score 7-8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19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8B8FA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8B8FA3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18CF8"/>
                </a:solidFill>
                <a:latin typeface="Arial"/>
              </a:defRPr>
            </a:pPr>
            <a:r>
              <a:t>Auto Insurance Portfolio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B8FA3"/>
                </a:solidFill>
                <a:latin typeface="Arial"/>
              </a:defRPr>
            </a:pPr>
            <a:r>
              <a:t>AI-Powered Risk Insights  |  10,000 Policyholders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566160"/>
            <a:ext cx="3931920" cy="18288"/>
          </a:xfrm>
          <a:prstGeom prst="rect">
            <a:avLst/>
          </a:prstGeom>
          <a:solidFill>
            <a:srgbClr val="2E3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8FA3"/>
                </a:solidFill>
                <a:latin typeface="Arial"/>
              </a:defRPr>
            </a:pPr>
            <a:r>
              <a:t>Generated by Claude Code  |  February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Portfolio overview across 10,000 active policies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691640"/>
            <a:ext cx="365760" cy="36576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Active Policies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8CF8"/>
                </a:solidFill>
                <a:latin typeface="Arial"/>
              </a:defRPr>
            </a:pPr>
            <a:r>
              <a:t>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5544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27248" y="1691640"/>
            <a:ext cx="36576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1874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Total Premium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1945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B6D4"/>
                </a:solidFill>
                <a:latin typeface="Arial"/>
              </a:defRPr>
            </a:pPr>
            <a:r>
              <a:t>$14.8M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48656" y="15544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85816" y="1691640"/>
            <a:ext cx="3657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5816" y="1874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Total Claims 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21945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Arial"/>
              </a:defRPr>
            </a:pPr>
            <a:r>
              <a:t>$10.4M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7224" y="15544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4384" y="1691640"/>
            <a:ext cx="3657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874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Loss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384" y="21945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Arial"/>
              </a:defRPr>
            </a:pPr>
            <a:r>
              <a:t>70.4%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65792" y="15544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902952" y="1691640"/>
            <a:ext cx="365760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2952" y="1874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Claims Frequency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2952" y="21945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2C55E"/>
                </a:solidFill>
                <a:latin typeface="Arial"/>
              </a:defRPr>
            </a:pPr>
            <a:r>
              <a:t>35.4%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383280"/>
            <a:ext cx="10698480" cy="30175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4E6ED"/>
                </a:solidFill>
                <a:latin typeface="Arial"/>
              </a:defRPr>
            </a:pPr>
            <a:r>
              <a:t>Key Portfolio Metrics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4187952"/>
            <a:ext cx="109728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9E0B"/>
                </a:solidFill>
                <a:latin typeface="Arial"/>
              </a:rPr>
              <a:t>Highest Risk Segment:</a:t>
            </a:r>
            <a:r>
              <a:rPr sz="1300">
                <a:solidFill>
                  <a:srgbClr val="E4E6ED"/>
                </a:solidFill>
                <a:latin typeface="Arial"/>
              </a:rPr>
              <a:t> Young drivers (18-24) have 49% claims frequency vs 33% for 35-44 age group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782312"/>
            <a:ext cx="109728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709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6B6D4"/>
                </a:solidFill>
                <a:latin typeface="Arial"/>
              </a:rPr>
              <a:t>Gender Split:</a:t>
            </a:r>
            <a:r>
              <a:rPr sz="1300">
                <a:solidFill>
                  <a:srgbClr val="E4E6ED"/>
                </a:solidFill>
                <a:latin typeface="Arial"/>
              </a:rPr>
              <a:t> 5,310 male (66% LR) vs 4,690 female (76% LR)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5376672"/>
            <a:ext cx="109728" cy="10972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Arial"/>
              </a:rPr>
              <a:t>Car Age Impact:</a:t>
            </a:r>
            <a:r>
              <a:rPr sz="1300">
                <a:solidFill>
                  <a:srgbClr val="E4E6ED"/>
                </a:solidFill>
                <a:latin typeface="Arial"/>
              </a:rPr>
              <a:t> Older cars (2000-04) show 67% loss ratio vs 66% for newer (2020-25)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5971032"/>
            <a:ext cx="109728" cy="10972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5897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18CF8"/>
                </a:solidFill>
                <a:latin typeface="Arial"/>
              </a:rPr>
              <a:t>Portfolio Health:</a:t>
            </a:r>
            <a:r>
              <a:rPr sz="1300">
                <a:solidFill>
                  <a:srgbClr val="E4E6ED"/>
                </a:solidFill>
                <a:latin typeface="Arial"/>
              </a:rPr>
              <a:t> Overall 70.4% loss ratio is within industry acceptable range (60-80%)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Loss Ratio by Age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Young and elderly drivers show highest loss ratios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463040"/>
          <a:ext cx="68580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46720" y="1645920"/>
            <a:ext cx="3657600" cy="13716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54864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783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Highest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F4444"/>
                </a:solidFill>
                <a:latin typeface="Arial"/>
              </a:defRPr>
            </a:pPr>
            <a:r>
              <a:t>86%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560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65+ age group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291840"/>
            <a:ext cx="3657600" cy="13716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3291840"/>
            <a:ext cx="54864" cy="13716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429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Lowest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749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C55E"/>
                </a:solidFill>
                <a:latin typeface="Arial"/>
              </a:defRPr>
            </a:pPr>
            <a:r>
              <a:t>66%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206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25-34 age 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937760"/>
            <a:ext cx="3657600" cy="13716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4937760"/>
            <a:ext cx="54864" cy="137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5074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Largest Pool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394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B6D4"/>
                </a:solidFill>
                <a:latin typeface="Arial"/>
              </a:defRPr>
            </a:pPr>
            <a:r>
              <a:t>3,251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35-44 policyholders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Claims Frequency &amp; Average 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Young drivers: highest claims rate AND highest premiums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54864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46304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Risk Heatmap: Age Group x Car 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Loss ratio matrix reveals risk concentration patterns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65376"/>
                <a:gridCol w="1865376"/>
                <a:gridCol w="1865376"/>
                <a:gridCol w="1865376"/>
                <a:gridCol w="1865376"/>
              </a:tblGrid>
              <a:tr h="6792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Age \ Car Era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2000-04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2005-09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2010-14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2015-19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2020-25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18-24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62%  (n=85)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69%  (n=152)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62%  (n=209)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4422"/>
                          </a:solidFill>
                          <a:latin typeface="Arial"/>
                        </a:defRPr>
                      </a:pPr>
                      <a:r>
                        <a:t>91%  (n=250)</a:t>
                      </a:r>
                    </a:p>
                  </a:txBody>
                  <a:tcPr anchor="ctr">
                    <a:solidFill>
                      <a:srgbClr val="3D1A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7A22"/>
                          </a:solidFill>
                          <a:latin typeface="Arial"/>
                        </a:defRPr>
                      </a:pPr>
                      <a:r>
                        <a:t>78%  (n=324)</a:t>
                      </a:r>
                    </a:p>
                  </a:txBody>
                  <a:tcPr anchor="ctr">
                    <a:solidFill>
                      <a:srgbClr val="3D281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25-34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71%  (n=178)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70%  (n=314)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65%  (n=446)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65%  (n=543)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63%  (n=825)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35-44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58%  (n=294)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7A22"/>
                          </a:solidFill>
                          <a:latin typeface="Arial"/>
                        </a:defRPr>
                      </a:pPr>
                      <a:r>
                        <a:t>85%  (n=453)</a:t>
                      </a:r>
                    </a:p>
                  </a:txBody>
                  <a:tcPr anchor="ctr">
                    <a:solidFill>
                      <a:srgbClr val="3D28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7A22"/>
                          </a:solidFill>
                          <a:latin typeface="Arial"/>
                        </a:defRPr>
                      </a:pPr>
                      <a:r>
                        <a:t>80%  (n=614)</a:t>
                      </a:r>
                    </a:p>
                  </a:txBody>
                  <a:tcPr anchor="ctr">
                    <a:solidFill>
                      <a:srgbClr val="3D28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70%  (n=763)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62%  (n=1127)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45-54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7A22"/>
                          </a:solidFill>
                          <a:latin typeface="Arial"/>
                        </a:defRPr>
                      </a:pPr>
                      <a:r>
                        <a:t>79%  (n=187)</a:t>
                      </a:r>
                    </a:p>
                  </a:txBody>
                  <a:tcPr anchor="ctr">
                    <a:solidFill>
                      <a:srgbClr val="3D28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65%  (n=320)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7A22"/>
                          </a:solidFill>
                          <a:latin typeface="Arial"/>
                        </a:defRPr>
                      </a:pPr>
                      <a:r>
                        <a:t>83%  (n=445)</a:t>
                      </a:r>
                    </a:p>
                  </a:txBody>
                  <a:tcPr anchor="ctr">
                    <a:solidFill>
                      <a:srgbClr val="3D28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70%  (n=572)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71%  (n=803)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55-64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72%  (n=69)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100%  (n=129)</a:t>
                      </a:r>
                    </a:p>
                  </a:txBody>
                  <a:tcPr anchor="ctr">
                    <a:solidFill>
                      <a:srgbClr val="3D1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74%  (n=166)</a:t>
                      </a:r>
                    </a:p>
                  </a:txBody>
                  <a:tcPr anchor="ctr">
                    <a:solidFill>
                      <a:srgbClr val="3D3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60%  (n=205)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51%  (n=344)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65+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23%  (n=7)</a:t>
                      </a:r>
                    </a:p>
                  </a:txBody>
                  <a:tcPr anchor="ctr">
                    <a:solidFill>
                      <a:srgbClr val="153D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109%  (n=23)</a:t>
                      </a:r>
                    </a:p>
                  </a:txBody>
                  <a:tcPr anchor="ctr">
                    <a:solidFill>
                      <a:srgbClr val="3D15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BAD35"/>
                          </a:solidFill>
                          <a:latin typeface="Arial"/>
                        </a:defRPr>
                      </a:pPr>
                      <a:r>
                        <a:t>65%  (n=36)</a:t>
                      </a:r>
                    </a:p>
                  </a:txBody>
                  <a:tcPr anchor="ctr">
                    <a:solidFill>
                      <a:srgbClr val="253D1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47%  (n=47)</a:t>
                      </a:r>
                    </a:p>
                  </a:txBody>
                  <a:tcPr anchor="ctr">
                    <a:solidFill>
                      <a:srgbClr val="153D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123%  (n=70)</a:t>
                      </a:r>
                    </a:p>
                  </a:txBody>
                  <a:tcPr anchor="ctr">
                    <a:solidFill>
                      <a:srgbClr val="3D15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Gender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Loss ratio comparison between male and female policyholders by age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7315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0" y="1828800"/>
            <a:ext cx="54864" cy="1645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366F1"/>
                </a:solidFill>
                <a:latin typeface="Arial"/>
              </a:defRPr>
            </a:pPr>
            <a:r>
              <a:t>Male Drivers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6ED"/>
                </a:solidFill>
                <a:latin typeface="Arial"/>
              </a:defRPr>
            </a:pPr>
            <a:r>
              <a:t>5,310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834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366F1"/>
                </a:solidFill>
                <a:latin typeface="Arial"/>
              </a:defRPr>
            </a:pPr>
            <a:r>
              <a:t>LR: 66%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8404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3840480"/>
            <a:ext cx="54864" cy="1645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Arial"/>
              </a:defRPr>
            </a:pPr>
            <a:r>
              <a:t>Female Drivers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434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6ED"/>
                </a:solidFill>
                <a:latin typeface="Arial"/>
              </a:defRPr>
            </a:pPr>
            <a:r>
              <a:t>4,690 policies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8463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C4899"/>
                </a:solidFill>
                <a:latin typeface="Arial"/>
              </a:defRPr>
            </a:pPr>
            <a:r>
              <a:t>LR: 76%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AI-Powered Premium &amp; Risk Predictor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Interactive what-if analysis for underwriting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292608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3474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Arial"/>
              </a:defRPr>
            </a:pPr>
            <a:r>
              <a:t>Scenario A: High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22-year-old Male, 2008 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PREDICTED 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4E6ED"/>
                </a:solidFill>
                <a:latin typeface="Arial"/>
              </a:defRPr>
            </a:pPr>
            <a:r>
              <a:t>$1,763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832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RISK LEVEL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657600"/>
            <a:ext cx="1097280" cy="365760"/>
          </a:xfrm>
          <a:prstGeom prst="roundRect">
            <a:avLst>
              <a:gd name="adj" fmla="val 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4E6ED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3832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CLAIM PROBABILITY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657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  <a:latin typeface="Arial"/>
              </a:defRPr>
            </a:pPr>
            <a:r>
              <a:t>44%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59" y="1554480"/>
            <a:ext cx="3474720" cy="292608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59" y="1554480"/>
            <a:ext cx="347472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59" y="1783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Arial"/>
              </a:defRPr>
            </a:pPr>
            <a:r>
              <a:t>Scenario B: Low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40-year-old Female, 2023 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260604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PREDICTED 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4E6ED"/>
                </a:solidFill>
                <a:latin typeface="Arial"/>
              </a:defRPr>
            </a:pPr>
            <a:r>
              <a:t>$1,200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33832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RISK LEVEL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59" y="3657600"/>
            <a:ext cx="1097280" cy="36576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59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4E6ED"/>
                </a:solidFill>
                <a:latin typeface="Arial"/>
              </a:defRPr>
            </a:pPr>
            <a: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79" y="33832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CLAIM PROBABILITY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3657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2C55E"/>
                </a:solidFill>
                <a:latin typeface="Arial"/>
              </a:defRPr>
            </a:pPr>
            <a:r>
              <a:t>28%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598" y="1554480"/>
            <a:ext cx="3474720" cy="292608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598" y="15544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198" y="1783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Scenario C: Medium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198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55-year-old Male, 2015 car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8" y="260604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PREDICTED PREMIUM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8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4E6ED"/>
                </a:solidFill>
                <a:latin typeface="Arial"/>
              </a:defRPr>
            </a:pPr>
            <a:r>
              <a:t>$1,433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8" y="33832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RISK LEVEL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198" y="3657600"/>
            <a:ext cx="1097280" cy="36576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198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4E6ED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18" y="33832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8FA3"/>
                </a:solidFill>
                <a:latin typeface="Arial"/>
              </a:defRPr>
            </a:pPr>
            <a:r>
              <a:t>CLAIM PROBABILITY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18" y="3657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Arial"/>
              </a:defRPr>
            </a:pPr>
            <a:r>
              <a:t>33%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4754880"/>
            <a:ext cx="10698480" cy="16459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937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3492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2C55E"/>
                </a:solidFill>
                <a:latin typeface="Arial"/>
              </a:rPr>
              <a:t>1.</a:t>
            </a:r>
            <a:r>
              <a:rPr sz="1100">
                <a:solidFill>
                  <a:srgbClr val="E4E6ED"/>
                </a:solidFill>
                <a:latin typeface="Arial"/>
              </a:rPr>
              <a:t> Underwriter inputs customer profile (age, gender, car model year)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605272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2C55E"/>
                </a:solidFill>
                <a:latin typeface="Arial"/>
              </a:rPr>
              <a:t>2.</a:t>
            </a:r>
            <a:r>
              <a:rPr sz="1100">
                <a:solidFill>
                  <a:srgbClr val="E4E6ED"/>
                </a:solidFill>
                <a:latin typeface="Arial"/>
              </a:rPr>
              <a:t> AI model calculates predicted premium using actuarial risk factors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861304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2C55E"/>
                </a:solidFill>
                <a:latin typeface="Arial"/>
              </a:rPr>
              <a:t>3.</a:t>
            </a:r>
            <a:r>
              <a:rPr sz="1100">
                <a:solidFill>
                  <a:srgbClr val="E4E6ED"/>
                </a:solidFill>
                <a:latin typeface="Arial"/>
              </a:rPr>
              <a:t> Risk level and claim probability are computed in real-time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6117336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2C55E"/>
                </a:solidFill>
                <a:latin typeface="Arial"/>
              </a:rPr>
              <a:t>4.</a:t>
            </a:r>
            <a:r>
              <a:rPr sz="1100">
                <a:solidFill>
                  <a:srgbClr val="E4E6ED"/>
                </a:solidFill>
                <a:latin typeface="Arial"/>
              </a:rPr>
              <a:t> Results compared against portfolio averages for context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AI-Powered Fraud &amp;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Automated flagging of suspicious claims using score-based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572768"/>
            <a:ext cx="32004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Claims Analyzed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6B6D4"/>
                </a:solidFill>
                <a:latin typeface="Arial"/>
              </a:defRPr>
            </a:pPr>
            <a:r>
              <a:t>3,539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27248" y="1572768"/>
            <a:ext cx="3200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173736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Flagged Suspicious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F4444"/>
                </a:solidFill>
                <a:latin typeface="Arial"/>
              </a:defRPr>
            </a:pPr>
            <a:r>
              <a:t>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48656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85816" y="1572768"/>
            <a:ext cx="3200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5816" y="173736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Flag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9E0B"/>
                </a:solidFill>
                <a:latin typeface="Arial"/>
              </a:defRPr>
            </a:pPr>
            <a:r>
              <a:t>2.7%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7224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4384" y="1572768"/>
            <a:ext cx="320040" cy="36576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73736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Detection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384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818CF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65792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902952" y="1572768"/>
            <a:ext cx="3200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2952" y="173736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Highest Risk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2952" y="20116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F4444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31520" y="292608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914400"/>
                <a:gridCol w="1188720"/>
              </a:tblGrid>
              <a:tr h="5334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Detection Rule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Criteria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8FA3"/>
                          </a:solidFill>
                          <a:latin typeface="Arial"/>
                        </a:defRPr>
                      </a:pPr>
                      <a:r>
                        <a:t>Flagged</a:t>
                      </a:r>
                    </a:p>
                  </a:txBody>
                  <a:tcPr anchor="ctr">
                    <a:solidFill>
                      <a:srgbClr val="23273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Extreme Loss Ratio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&gt; 15x premium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Statistical Outlier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&gt; mean + 3σ by age group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New Car, High Loss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Car ≥ 2022, loss &gt; $10K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Young Driver Extreme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Age &lt; 25, loss &gt; $15K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CCAA22"/>
                          </a:solidFill>
                          <a:latin typeface="Arial"/>
                        </a:defRPr>
                      </a:pPr>
                      <a:r>
                        <a:t>Premium-Loss Mismatch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Top 5% loss, bottom 25% premium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4E6ED"/>
                          </a:solidFill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 anchor="ctr"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8046720" y="2926080"/>
            <a:ext cx="3657600" cy="32004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926080"/>
            <a:ext cx="36576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154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Arial"/>
              </a:defRPr>
            </a:pPr>
            <a:r>
              <a:t>Highest Risk 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520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Customer #9205  |  Risk Score: 8/8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931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8FA3"/>
                </a:solidFill>
                <a:latin typeface="Arial"/>
              </a:rPr>
              <a:t>Profile: </a:t>
            </a:r>
            <a:r>
              <a:rPr sz="1100">
                <a:solidFill>
                  <a:srgbClr val="E4E6ED"/>
                </a:solidFill>
                <a:latin typeface="Arial"/>
              </a:rPr>
              <a:t>54-year-old Female, 2025 car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31596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8FA3"/>
                </a:solidFill>
                <a:latin typeface="Arial"/>
              </a:rPr>
              <a:t>Premium: </a:t>
            </a:r>
            <a:r>
              <a:rPr sz="1100">
                <a:solidFill>
                  <a:srgbClr val="E4E6ED"/>
                </a:solidFill>
                <a:latin typeface="Arial"/>
              </a:rPr>
              <a:t>$996/year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700016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8FA3"/>
                </a:solidFill>
                <a:latin typeface="Arial"/>
              </a:rPr>
              <a:t>Claim: </a:t>
            </a:r>
            <a:r>
              <a:rPr sz="1100">
                <a:solidFill>
                  <a:srgbClr val="E4E6ED"/>
                </a:solidFill>
                <a:latin typeface="Arial"/>
              </a:rPr>
              <a:t>$21,147 (21.2x loss ratio)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5084064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B8FA3"/>
                </a:solidFill>
                <a:latin typeface="Arial"/>
              </a:rPr>
              <a:t>Flags: </a:t>
            </a:r>
            <a:r>
              <a:rPr sz="1100">
                <a:solidFill>
                  <a:srgbClr val="E4E6ED"/>
                </a:solidFill>
                <a:latin typeface="Arial"/>
              </a:rPr>
              <a:t>4 of 5 rules triggered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8046720" y="5440680"/>
          <a:ext cx="365760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Natural Language Data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Ask questions about your portfolio in plain English — powered by Claude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943600" cy="484632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Arial"/>
              </a:defRPr>
            </a:pPr>
            <a:r>
              <a:t>Insurance Data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11680"/>
            <a:ext cx="4114800" cy="384048"/>
          </a:xfrm>
          <a:prstGeom prst="roundRect">
            <a:avLst>
              <a:gd name="adj" fmla="val 5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0574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4E6ED"/>
                </a:solidFill>
                <a:latin typeface="Arial"/>
              </a:defRPr>
            </a:pPr>
            <a:r>
              <a:t>Which age group has the highest loss ratio?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87168"/>
            <a:ext cx="4754880" cy="537667"/>
          </a:xfrm>
          <a:prstGeom prst="roundRect">
            <a:avLst>
              <a:gd name="adj" fmla="val 5000"/>
            </a:avLst>
          </a:prstGeom>
          <a:solidFill>
            <a:srgbClr val="232733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4572000" cy="482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4E6ED"/>
                </a:solidFill>
                <a:latin typeface="Arial"/>
              </a:defRPr>
            </a:pPr>
            <a:r>
              <a:t>The 65+ age group has the highest loss ratio at 85.6%, followed by 18-24 at 74.8%. The lowest is 25-34 at 65.5%.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3116275"/>
            <a:ext cx="4114800" cy="384048"/>
          </a:xfrm>
          <a:prstGeom prst="roundRect">
            <a:avLst>
              <a:gd name="adj" fmla="val 5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3161995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4E6ED"/>
                </a:solidFill>
                <a:latin typeface="Arial"/>
              </a:defRPr>
            </a:pPr>
            <a:r>
              <a:t>How many customers were flagged for fraud?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591763"/>
            <a:ext cx="4754880" cy="547072"/>
          </a:xfrm>
          <a:prstGeom prst="roundRect">
            <a:avLst>
              <a:gd name="adj" fmla="val 5000"/>
            </a:avLst>
          </a:prstGeom>
          <a:solidFill>
            <a:srgbClr val="232733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9195"/>
            <a:ext cx="4572000" cy="492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4E6ED"/>
                </a:solidFill>
                <a:latin typeface="Arial"/>
              </a:defRPr>
            </a:pPr>
            <a:r>
              <a:t>95 customers were flagged across 5 detection rules, representing 2.7% of all claims. The highest risk score was 8/8.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4230275"/>
            <a:ext cx="4114800" cy="384048"/>
          </a:xfrm>
          <a:prstGeom prst="roundRect">
            <a:avLst>
              <a:gd name="adj" fmla="val 5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4275995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4E6ED"/>
                </a:solidFill>
                <a:latin typeface="Arial"/>
              </a:defRPr>
            </a:pPr>
            <a:r>
              <a:t>What premium should I charge a 22-year-old male with a 2008 car?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705763"/>
            <a:ext cx="4754880" cy="568234"/>
          </a:xfrm>
          <a:prstGeom prst="roundRect">
            <a:avLst>
              <a:gd name="adj" fmla="val 5000"/>
            </a:avLst>
          </a:prstGeom>
          <a:solidFill>
            <a:srgbClr val="232733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33195"/>
            <a:ext cx="4572000" cy="513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4E6ED"/>
                </a:solidFill>
                <a:latin typeface="Arial"/>
              </a:defRPr>
            </a:pPr>
            <a:r>
              <a:t>Based on portfolio risk factors: predicted premium $1,763/yr, HIGH risk level, 44.3% claim probability — 18.7% above average.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554480"/>
            <a:ext cx="4572000" cy="22860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488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6B6D4"/>
                </a:solidFill>
                <a:latin typeface="Arial"/>
              </a:rPr>
              <a:t>1.</a:t>
            </a:r>
            <a:r>
              <a:rPr sz="1100">
                <a:solidFill>
                  <a:srgbClr val="E4E6ED"/>
                </a:solidFill>
                <a:latin typeface="Arial"/>
              </a:rPr>
              <a:t> User asks a question in plain English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49631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6B6D4"/>
                </a:solidFill>
                <a:latin typeface="Arial"/>
              </a:rPr>
              <a:t>2.</a:t>
            </a:r>
            <a:r>
              <a:rPr sz="1100">
                <a:solidFill>
                  <a:srgbClr val="E4E6ED"/>
                </a:solidFill>
                <a:latin typeface="Arial"/>
              </a:rPr>
              <a:t> Data context (10K records, pre-aggregated) sent to 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84378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6B6D4"/>
                </a:solidFill>
                <a:latin typeface="Arial"/>
              </a:rPr>
              <a:t>3.</a:t>
            </a:r>
            <a:r>
              <a:rPr sz="1100">
                <a:solidFill>
                  <a:srgbClr val="E4E6ED"/>
                </a:solidFill>
                <a:latin typeface="Arial"/>
              </a:rPr>
              <a:t> AI analyzes and responds with precise numbers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912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6B6D4"/>
                </a:solidFill>
                <a:latin typeface="Arial"/>
              </a:rPr>
              <a:t>4.</a:t>
            </a:r>
            <a:r>
              <a:rPr sz="1100">
                <a:solidFill>
                  <a:srgbClr val="E4E6ED"/>
                </a:solidFill>
                <a:latin typeface="Arial"/>
              </a:rPr>
              <a:t> No SQL, no coding — just conversation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4114800"/>
            <a:ext cx="4572000" cy="22860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4251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Example Questions You Can 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663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"What is the average premium for drivers under 25?"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983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"Compare loss ratios between male and female drivers"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5303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"Which car era has the most claims?"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"Show the top 5 largest claims in the portfolio"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943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"Is our overall loss ratio healthy?"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Automated PDF Report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AI generates a full actuarial-quality report from raw data in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3474720" cy="54864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783080"/>
            <a:ext cx="640080" cy="320040"/>
          </a:xfrm>
          <a:prstGeom prst="roundRect">
            <a:avLst>
              <a:gd name="adj" fmla="val 5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4E6ED"/>
                </a:solidFill>
                <a:latin typeface="Arial"/>
              </a:defRPr>
            </a:pPr>
            <a:r>
              <a:t>Page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18CF8"/>
                </a:solidFill>
                <a:latin typeface="Arial"/>
              </a:defRPr>
            </a:pPr>
            <a:r>
              <a:t>Cover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Professional title page with</a:t>
            </a:r>
            <a:br/>
            <a:r>
              <a:t>branding and 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55448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1554480"/>
            <a:ext cx="34747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39" y="1783080"/>
            <a:ext cx="640080" cy="320040"/>
          </a:xfrm>
          <a:prstGeom prst="roundRect">
            <a:avLst>
              <a:gd name="adj" fmla="val 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1783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4E6ED"/>
                </a:solidFill>
                <a:latin typeface="Arial"/>
              </a:defRPr>
            </a:pPr>
            <a:r>
              <a:t>Page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39" y="2286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26517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KPI table, narrative insights,</a:t>
            </a:r>
            <a:br/>
            <a:r>
              <a:t>key findings bullets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155448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78" y="1783080"/>
            <a:ext cx="640080" cy="32004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17830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4E6ED"/>
                </a:solidFill>
                <a:latin typeface="Arial"/>
              </a:defRPr>
            </a:pPr>
            <a:r>
              <a:t>Page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286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Arial"/>
              </a:defRPr>
            </a:pPr>
            <a:r>
              <a:t>Age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26517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Loss ratio &amp; claims frequency</a:t>
            </a:r>
            <a:br/>
            <a:r>
              <a:t>charts with commentary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02336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023360"/>
            <a:ext cx="3474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4251960"/>
            <a:ext cx="640080" cy="320040"/>
          </a:xfrm>
          <a:prstGeom prst="roundRect">
            <a:avLst>
              <a:gd name="adj" fmla="val 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251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4E6ED"/>
                </a:solidFill>
                <a:latin typeface="Arial"/>
              </a:defRPr>
            </a:pPr>
            <a:r>
              <a:t>Page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754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Arial"/>
              </a:defRPr>
            </a:pPr>
            <a:r>
              <a:t>Risk Segmentation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1206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Heatmap matrix + car era</a:t>
            </a:r>
            <a:br/>
            <a:r>
              <a:t>trend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402336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80559" y="4023360"/>
            <a:ext cx="347472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63439" y="4251960"/>
            <a:ext cx="640080" cy="320040"/>
          </a:xfrm>
          <a:prstGeom prst="roundRect">
            <a:avLst>
              <a:gd name="adj" fmla="val 5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39" y="4251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4E6ED"/>
                </a:solidFill>
                <a:latin typeface="Arial"/>
              </a:defRPr>
            </a:pPr>
            <a:r>
              <a:t>Page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39" y="4754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C4899"/>
                </a:solidFill>
                <a:latin typeface="Arial"/>
              </a:defRPr>
            </a:pPr>
            <a:r>
              <a:t>Gender &amp; Premium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39" y="51206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Grouped bar charts +</a:t>
            </a:r>
            <a:br/>
            <a:r>
              <a:t>distribution histogram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598" y="402336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598" y="4023360"/>
            <a:ext cx="347472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78" y="4251960"/>
            <a:ext cx="640080" cy="32004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8" y="4251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4E6ED"/>
                </a:solidFill>
                <a:latin typeface="Arial"/>
              </a:defRPr>
            </a:pPr>
            <a:r>
              <a:t>Page 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78" y="4754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  <a:latin typeface="Arial"/>
              </a:defRPr>
            </a:pPr>
            <a:r>
              <a:t>Recommendations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8" y="51206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3"/>
                </a:solidFill>
                <a:latin typeface="Arial"/>
              </a:defRPr>
            </a:pPr>
            <a:r>
              <a:t>6 actionable strategies with</a:t>
            </a:r>
            <a:br/>
            <a:r>
              <a:t>projected impact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6ED"/>
                </a:solidFill>
                <a:latin typeface="Arial"/>
              </a:defRPr>
            </a:pPr>
            <a:r>
              <a:t>What AI Agents Can Do For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FA3"/>
                </a:solidFill>
                <a:latin typeface="Arial"/>
              </a:defRPr>
            </a:pPr>
            <a:r>
              <a:t>Everything in this demo was generated by Claude Code in a single session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508760" cy="27432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508760" cy="4572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7373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4E6ED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Arial"/>
              </a:defRPr>
            </a:pPr>
            <a:r>
              <a:t>Mock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1234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10K realistic records</a:t>
            </a:r>
            <a:br/>
            <a:r>
              <a:t>with risk correlations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1554480"/>
            <a:ext cx="1508760" cy="27432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21408" y="1554480"/>
            <a:ext cx="150876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58568" y="17373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8568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4E6ED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Arial"/>
              </a:defRPr>
            </a:pPr>
            <a:r>
              <a:t>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651760"/>
            <a:ext cx="1234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Interactive charts,</a:t>
            </a:r>
            <a:br/>
            <a:r>
              <a:t>heatmap &amp; filters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5616" y="1554480"/>
            <a:ext cx="1508760" cy="27432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85616" y="1554480"/>
            <a:ext cx="150876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22776" y="17373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4E6E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2776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Arial"/>
              </a:defRPr>
            </a:pPr>
            <a:r>
              <a:t>Predictor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2776" y="2651760"/>
            <a:ext cx="1234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What-if premium</a:t>
            </a:r>
            <a:br/>
            <a:r>
              <a:t>&amp; risk calculator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9824" y="1554480"/>
            <a:ext cx="1508760" cy="27432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49824" y="1554480"/>
            <a:ext cx="150876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586984" y="17373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6984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4E6ED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6984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Arial"/>
              </a:defRPr>
            </a:pPr>
            <a:r>
              <a:t>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86984" y="2651760"/>
            <a:ext cx="1234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Auto-generated slides</a:t>
            </a:r>
            <a:br/>
            <a:r>
              <a:t>with charts &amp; data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14032" y="1554480"/>
            <a:ext cx="1508760" cy="27432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14032" y="1554480"/>
            <a:ext cx="1508760" cy="4572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51192" y="17373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1192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4E6ED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1192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Arial"/>
              </a:defRPr>
            </a:pPr>
            <a:r>
              <a:t>PDF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1192" y="2651760"/>
            <a:ext cx="1234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6-page actuarial</a:t>
            </a:r>
            <a:br/>
            <a:r>
              <a:t>report with insights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78240" y="1554480"/>
            <a:ext cx="1508760" cy="27432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78240" y="1554480"/>
            <a:ext cx="150876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915400" y="17373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4E6ED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Arial"/>
              </a:defRPr>
            </a:pPr>
            <a:r>
              <a:t>Fraud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2651760"/>
            <a:ext cx="1234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Score-based anomaly</a:t>
            </a:r>
            <a:br/>
            <a:r>
              <a:t>detection system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42448" y="1554480"/>
            <a:ext cx="1508760" cy="274320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42448" y="1554480"/>
            <a:ext cx="1508760" cy="45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79608" y="17373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79608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4E6ED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79608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Arial"/>
              </a:defRPr>
            </a:pPr>
            <a:r>
              <a:t>Data Chatbot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79608" y="2651760"/>
            <a:ext cx="1234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8FA3"/>
                </a:solidFill>
                <a:latin typeface="Arial"/>
              </a:defRPr>
            </a:pPr>
            <a:r>
              <a:t>NL Q&amp;A powered</a:t>
            </a:r>
            <a:br/>
            <a:r>
              <a:t>by Claude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120640"/>
            <a:ext cx="10698480" cy="128016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E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349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8CF8"/>
                </a:solidFill>
                <a:latin typeface="Arial"/>
              </a:defRPr>
            </a:pPr>
            <a:r>
              <a:t>Key Takeaway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715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6ED"/>
                </a:solidFill>
                <a:latin typeface="Arial"/>
              </a:defRPr>
            </a:pPr>
            <a:r>
              <a:t>AI coding agents don't replace developers — they amplify them. 7 deliverables built in a single session, from raw data to polished reports.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18CF8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00400"/>
            <a:ext cx="2103120" cy="18288"/>
          </a:xfrm>
          <a:prstGeom prst="rect">
            <a:avLst/>
          </a:prstGeom>
          <a:solidFill>
            <a:srgbClr val="2E3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B8FA3"/>
                </a:solidFill>
                <a:latin typeface="Arial"/>
              </a:defRPr>
            </a:pPr>
            <a: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8FA3"/>
                </a:solidFill>
                <a:latin typeface="Arial"/>
              </a:defRPr>
            </a:pPr>
            <a:r>
              <a:t>All materials available: dashboard, data, reports, fraud detection, and chatbot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366F1"/>
                </a:solidFill>
                <a:latin typeface="Arial"/>
              </a:defRPr>
            </a:pPr>
            <a:r>
              <a:t>Powered by Claude Code  |  Anthropic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