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Loss Ratio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22C55E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22C55E"/>
              </a:solidFill>
            </c:spPr>
          </c:dPt>
          <c:dPt>
            <c:idx val="5"/>
            <c:spPr>
              <a:solidFill>
                <a:srgbClr val="EF4444"/>
              </a:solidFill>
            </c:spPr>
          </c:dPt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74.84459331174293</c:v>
                </c:pt>
                <c:pt idx="1">
                  <c:v>65.50112298883676</c:v>
                </c:pt>
                <c:pt idx="2">
                  <c:v>70.30508995033637</c:v>
                </c:pt>
                <c:pt idx="3">
                  <c:v>72.9638014185643</c:v>
                </c:pt>
                <c:pt idx="4">
                  <c:v>66.62144385344851</c:v>
                </c:pt>
                <c:pt idx="5">
                  <c:v>85.56744212412964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>
                    <a:solidFill>
                      <a:srgbClr val="8B8FA3"/>
                    </a:solidFill>
                  </a:defRPr>
                </a:pPr>
                <a:r>
                  <a:t>Loss Ratio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Claims Frequency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Claims Freq %</c:v>
                </c:pt>
              </c:strCache>
            </c:strRef>
          </c:tx>
          <c:dPt>
            <c:idx val="0"/>
            <c:spPr>
              <a:solidFill>
                <a:srgbClr val="06B6D4"/>
              </a:solidFill>
            </c:spPr>
          </c:dPt>
          <c:dPt>
            <c:idx val="1"/>
            <c:spPr>
              <a:solidFill>
                <a:srgbClr val="06B6D4"/>
              </a:solidFill>
            </c:spPr>
          </c:dPt>
          <c:dPt>
            <c:idx val="2"/>
            <c:spPr>
              <a:solidFill>
                <a:srgbClr val="06B6D4"/>
              </a:solidFill>
            </c:spPr>
          </c:dPt>
          <c:dPt>
            <c:idx val="3"/>
            <c:spPr>
              <a:solidFill>
                <a:srgbClr val="06B6D4"/>
              </a:solidFill>
            </c:spPr>
          </c:dPt>
          <c:dPt>
            <c:idx val="4"/>
            <c:spPr>
              <a:solidFill>
                <a:srgbClr val="06B6D4"/>
              </a:solidFill>
            </c:spPr>
          </c:dPt>
          <c:dPt>
            <c:idx val="5"/>
            <c:spPr>
              <a:solidFill>
                <a:srgbClr val="06B6D4"/>
              </a:solidFill>
            </c:spPr>
          </c:dPt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49.411764705882355</c:v>
                </c:pt>
                <c:pt idx="1">
                  <c:v>33.86816999132697</c:v>
                </c:pt>
                <c:pt idx="2">
                  <c:v>33.49738541987081</c:v>
                </c:pt>
                <c:pt idx="3">
                  <c:v>32.960893854748605</c:v>
                </c:pt>
                <c:pt idx="4">
                  <c:v>35.48740416210296</c:v>
                </c:pt>
                <c:pt idx="5">
                  <c:v>40.43715846994536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Average Annual Premium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Premium $</c:v>
                </c:pt>
              </c:strCache>
            </c:strRef>
          </c:tx>
          <c:dPt>
            <c:idx val="0"/>
            <c:spPr>
              <a:solidFill>
                <a:srgbClr val="818CF8"/>
              </a:solidFill>
            </c:spPr>
          </c:dPt>
          <c:dPt>
            <c:idx val="1"/>
            <c:spPr>
              <a:solidFill>
                <a:srgbClr val="818CF8"/>
              </a:solidFill>
            </c:spPr>
          </c:dPt>
          <c:dPt>
            <c:idx val="2"/>
            <c:spPr>
              <a:solidFill>
                <a:srgbClr val="818CF8"/>
              </a:solidFill>
            </c:spPr>
          </c:dPt>
          <c:dPt>
            <c:idx val="3"/>
            <c:spPr>
              <a:solidFill>
                <a:srgbClr val="818CF8"/>
              </a:solidFill>
            </c:spPr>
          </c:dPt>
          <c:dPt>
            <c:idx val="4"/>
            <c:spPr>
              <a:solidFill>
                <a:srgbClr val="818CF8"/>
              </a:solidFill>
            </c:spPr>
          </c:dPt>
          <c:dPt>
            <c:idx val="5"/>
            <c:spPr>
              <a:solidFill>
                <a:srgbClr val="818CF8"/>
              </a:solidFill>
            </c:spPr>
          </c:dPt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2031.351049019608</c:v>
                </c:pt>
                <c:pt idx="1">
                  <c:v>1474.1415394622725</c:v>
                </c:pt>
                <c:pt idx="2">
                  <c:v>1395.153992617656</c:v>
                </c:pt>
                <c:pt idx="3">
                  <c:v>1393.3017791147402</c:v>
                </c:pt>
                <c:pt idx="4">
                  <c:v>1432.6532201533405</c:v>
                </c:pt>
                <c:pt idx="5">
                  <c:v>1561.6142076502733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6366F1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66.78070247947218</c:v>
                </c:pt>
                <c:pt idx="1">
                  <c:v>62.47482483732551</c:v>
                </c:pt>
                <c:pt idx="2">
                  <c:v>66.32053944008712</c:v>
                </c:pt>
                <c:pt idx="3">
                  <c:v>73.9179376784026</c:v>
                </c:pt>
                <c:pt idx="4">
                  <c:v>52.93281682389237</c:v>
                </c:pt>
                <c:pt idx="5">
                  <c:v>65.56766324277402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C4899"/>
            </a:solidFill>
          </c:spPr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84.48041807596769</c:v>
                </c:pt>
                <c:pt idx="1">
                  <c:v>69.08689959862954</c:v>
                </c:pt>
                <c:pt idx="2">
                  <c:v>75.22450142075088</c:v>
                </c:pt>
                <c:pt idx="3">
                  <c:v>71.7565039732271</c:v>
                </c:pt>
                <c:pt idx="4">
                  <c:v>83.5899265601625</c:v>
                </c:pt>
                <c:pt idx="5">
                  <c:v>112.53933417188158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B8F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>
                    <a:solidFill>
                      <a:srgbClr val="8B8FA3"/>
                    </a:solidFill>
                  </a:defRPr>
                </a:pPr>
                <a:r>
                  <a:t>Loss Ratio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8FA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B8FA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18CF8"/>
                </a:solidFill>
                <a:latin typeface="Arial"/>
              </a:defRPr>
            </a:pPr>
            <a:r>
              <a:t>Auto Insurance Portfolio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3"/>
                </a:solidFill>
                <a:latin typeface="Arial"/>
              </a:defRPr>
            </a:pPr>
            <a:r>
              <a:t>AI-Powered Risk Insights  |  10,000 Policyholders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566160"/>
            <a:ext cx="3931920" cy="18288"/>
          </a:xfrm>
          <a:prstGeom prst="rect">
            <a:avLst/>
          </a:prstGeom>
          <a:solidFill>
            <a:srgbClr val="2E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FA3"/>
                </a:solidFill>
                <a:latin typeface="Arial"/>
              </a:defRPr>
            </a:pPr>
            <a:r>
              <a:t>Generated by Claude Code  | 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Portfolio overview across 10,000 active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91640"/>
            <a:ext cx="365760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Active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27248" y="1691640"/>
            <a:ext cx="365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Total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Arial"/>
              </a:defRPr>
            </a:pPr>
            <a:r>
              <a:t>$14.8M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85816" y="1691640"/>
            <a:ext cx="365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Total Claims Paid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Arial"/>
              </a:defRPr>
            </a:pPr>
            <a:r>
              <a:t>$10.4M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4384" y="1691640"/>
            <a:ext cx="365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Loss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Arial"/>
              </a:defRPr>
            </a:pPr>
            <a:r>
              <a:t>70.4%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65792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02952" y="1691640"/>
            <a:ext cx="3657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1874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FA3"/>
                </a:solidFill>
                <a:latin typeface="Arial"/>
              </a:defRPr>
            </a:pPr>
            <a:r>
              <a:t>Claims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194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Arial"/>
              </a:defRPr>
            </a:pPr>
            <a:r>
              <a:t>35.4%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83280"/>
            <a:ext cx="10698480" cy="30175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4E6ED"/>
                </a:solidFill>
                <a:latin typeface="Arial"/>
              </a:defRPr>
            </a:pPr>
            <a:r>
              <a:t>Key Portfolio Metrics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187952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Arial"/>
              </a:rPr>
              <a:t>Highest Risk Segment:</a:t>
            </a:r>
            <a:r>
              <a:rPr sz="1300">
                <a:solidFill>
                  <a:srgbClr val="E4E6ED"/>
                </a:solidFill>
                <a:latin typeface="Arial"/>
              </a:rPr>
              <a:t> Young drivers (18-24) have 49% claims frequency vs 33% for 35-44 age group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7823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Arial"/>
              </a:rPr>
              <a:t>Gender Split:</a:t>
            </a:r>
            <a:r>
              <a:rPr sz="1300">
                <a:solidFill>
                  <a:srgbClr val="E4E6ED"/>
                </a:solidFill>
                <a:latin typeface="Arial"/>
              </a:rPr>
              <a:t> 5,310 male (66% LR) vs 4,690 female (76% LR)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5376672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Arial"/>
              </a:rPr>
              <a:t>Car Age Impact:</a:t>
            </a:r>
            <a:r>
              <a:rPr sz="1300">
                <a:solidFill>
                  <a:srgbClr val="E4E6ED"/>
                </a:solidFill>
                <a:latin typeface="Arial"/>
              </a:rPr>
              <a:t> Older cars (2000-04) show 67% loss ratio vs 66% for newer (2020-25)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971032"/>
            <a:ext cx="109728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5897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18CF8"/>
                </a:solidFill>
                <a:latin typeface="Arial"/>
              </a:rPr>
              <a:t>Portfolio Health:</a:t>
            </a:r>
            <a:r>
              <a:rPr sz="1300">
                <a:solidFill>
                  <a:srgbClr val="E4E6ED"/>
                </a:solidFill>
                <a:latin typeface="Arial"/>
              </a:rPr>
              <a:t> Overall 70.4% loss ratio is within industry acceptable range (60-80%)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Loss Ratio by Age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Young and elderly drivers show highest loss ratios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6304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Highest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F4444"/>
                </a:solidFill>
                <a:latin typeface="Arial"/>
              </a:defRPr>
            </a:pPr>
            <a:r>
              <a:t>86%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65+ age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9184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291840"/>
            <a:ext cx="54864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Lowest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749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C55E"/>
                </a:solidFill>
                <a:latin typeface="Arial"/>
              </a:defRPr>
            </a:pPr>
            <a:r>
              <a:t>66%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25-34 age group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93776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937760"/>
            <a:ext cx="54864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Largest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B6D4"/>
                </a:solidFill>
                <a:latin typeface="Arial"/>
              </a:defRPr>
            </a:pPr>
            <a:r>
              <a:t>3,251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852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35-44 policyholders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Claims Frequency &amp; Average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Young drivers: highest claims rate AND highest premiums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486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463040"/>
          <a:ext cx="54864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Risk Heatmap: Age Group x Car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Loss ratio matrix reveals risk concentration patterns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65376"/>
                <a:gridCol w="1865376"/>
                <a:gridCol w="1865376"/>
                <a:gridCol w="1865376"/>
                <a:gridCol w="1865376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Age \ Car Era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2000-04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2005-09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2010-14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2015-19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8B8FA3"/>
                          </a:solidFill>
                          <a:latin typeface="Arial"/>
                        </a:defRPr>
                      </a:pPr>
                      <a:r>
                        <a:t>2020-25</a:t>
                      </a:r>
                    </a:p>
                  </a:txBody>
                  <a:tcPr anchor="ctr">
                    <a:solidFill>
                      <a:srgbClr val="232733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18-24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62%  (n=85)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69%  (n=152)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62%  (n=209)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4422"/>
                          </a:solidFill>
                          <a:latin typeface="Arial"/>
                        </a:defRPr>
                      </a:pPr>
                      <a:r>
                        <a:t>91%  (n=250)</a:t>
                      </a:r>
                    </a:p>
                  </a:txBody>
                  <a:tcPr anchor="ctr">
                    <a:solidFill>
                      <a:srgbClr val="3D1A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78%  (n=324)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25-34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71%  (n=178)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70%  (n=314)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65%  (n=446)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65%  (n=543)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63%  (n=825)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35-44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58%  (n=294)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85%  (n=453)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80%  (n=614)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70%  (n=763)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62%  (n=1127)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45-54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79%  (n=187)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65%  (n=320)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07A22"/>
                          </a:solidFill>
                          <a:latin typeface="Arial"/>
                        </a:defRPr>
                      </a:pPr>
                      <a:r>
                        <a:t>83%  (n=445)</a:t>
                      </a:r>
                    </a:p>
                  </a:txBody>
                  <a:tcPr anchor="ctr">
                    <a:solidFill>
                      <a:srgbClr val="3D28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70%  (n=572)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71%  (n=803)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55-64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72%  (n=69)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100%  (n=129)</a:t>
                      </a:r>
                    </a:p>
                  </a:txBody>
                  <a:tcPr anchor="ctr"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CAA22"/>
                          </a:solidFill>
                          <a:latin typeface="Arial"/>
                        </a:defRPr>
                      </a:pPr>
                      <a:r>
                        <a:t>74%  (n=166)</a:t>
                      </a:r>
                    </a:p>
                  </a:txBody>
                  <a:tcPr anchor="ctr">
                    <a:solidFill>
                      <a:srgbClr val="3D3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60%  (n=205)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51%  (n=344)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4E6ED"/>
                          </a:solidFill>
                          <a:latin typeface="Arial"/>
                        </a:defRPr>
                      </a:pPr>
                      <a:r>
                        <a:t>65+</a:t>
                      </a:r>
                    </a:p>
                  </a:txBody>
                  <a:tcPr anchor="ctr"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23%  (n=7)</a:t>
                      </a:r>
                    </a:p>
                  </a:txBody>
                  <a:tcPr anchor="ctr">
                    <a:solidFill>
                      <a:srgbClr val="153D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109%  (n=23)</a:t>
                      </a:r>
                    </a:p>
                  </a:txBody>
                  <a:tcPr anchor="ctr"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BAD35"/>
                          </a:solidFill>
                          <a:latin typeface="Arial"/>
                        </a:defRPr>
                      </a:pPr>
                      <a:r>
                        <a:t>65%  (n=36)</a:t>
                      </a:r>
                    </a:p>
                  </a:txBody>
                  <a:tcPr anchor="ctr">
                    <a:solidFill>
                      <a:srgbClr val="253D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47%  (n=47)</a:t>
                      </a:r>
                    </a:p>
                  </a:txBody>
                  <a:tcPr anchor="ctr">
                    <a:solidFill>
                      <a:srgbClr val="153D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123%  (n=70)</a:t>
                      </a:r>
                    </a:p>
                  </a:txBody>
                  <a:tcPr anchor="ctr">
                    <a:solidFill>
                      <a:srgbClr val="3D15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Gender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Loss ratio comparison between male and female policyholders by age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54864" cy="1645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Arial"/>
              </a:defRPr>
            </a:pPr>
            <a:r>
              <a:t>Male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6ED"/>
                </a:solidFill>
                <a:latin typeface="Arial"/>
              </a:defRPr>
            </a:pPr>
            <a:r>
              <a:t>5,310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  <a:latin typeface="Arial"/>
              </a:defRPr>
            </a:pPr>
            <a:r>
              <a:t>LR: 66%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8404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840480"/>
            <a:ext cx="54864" cy="1645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Arial"/>
              </a:defRPr>
            </a:pPr>
            <a:r>
              <a:t>Female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6ED"/>
                </a:solidFill>
                <a:latin typeface="Arial"/>
              </a:defRPr>
            </a:pPr>
            <a:r>
              <a:t>4,690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846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C4899"/>
                </a:solidFill>
                <a:latin typeface="Arial"/>
              </a:defRPr>
            </a:pPr>
            <a:r>
              <a:t>LR: 76%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AI-Powered Premium &amp; Risk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Interactive what-if analysis for underwriting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Arial"/>
              </a:defRPr>
            </a:pPr>
            <a:r>
              <a:t>Scenario A: High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22-year-old Male, 2008 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PREDICTED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4E6ED"/>
                </a:solidFill>
                <a:latin typeface="Arial"/>
              </a:defRPr>
            </a:pPr>
            <a:r>
              <a:t>$1,763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RISK LEVEL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57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4E6ED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CLAIM 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Arial"/>
              </a:defRPr>
            </a:pPr>
            <a:r>
              <a:t>44%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55448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554480"/>
            <a:ext cx="3474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Scenario B: Low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40-year-old Female, 2023 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2606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PREDICTED 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4E6ED"/>
                </a:solidFill>
                <a:latin typeface="Arial"/>
              </a:defRPr>
            </a:pPr>
            <a:r>
              <a:t>$1,200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383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RISK LEVEL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57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4E6ED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CLAIM PROBABILITY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Arial"/>
              </a:defRPr>
            </a:pPr>
            <a:r>
              <a:t>28%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155448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8" y="15544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8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Scenario C: Medium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55-year-old Male, 2015 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8" y="2606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PREDICTED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8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4E6ED"/>
                </a:solidFill>
                <a:latin typeface="Arial"/>
              </a:defRPr>
            </a:pPr>
            <a:r>
              <a:t>$1,433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8" y="3383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RISK LEVEL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198" y="3657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198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4E6ED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8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8FA3"/>
                </a:solidFill>
                <a:latin typeface="Arial"/>
              </a:defRPr>
            </a:pPr>
            <a:r>
              <a:t>CLAIM PROBABILITY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8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Arial"/>
              </a:defRPr>
            </a:pPr>
            <a:r>
              <a:t>33%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75488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3492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1.</a:t>
            </a:r>
            <a:r>
              <a:rPr sz="1100">
                <a:solidFill>
                  <a:srgbClr val="E4E6ED"/>
                </a:solidFill>
                <a:latin typeface="Arial"/>
              </a:rPr>
              <a:t> Underwriter inputs customer profile (age, gender, car model year)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60527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2.</a:t>
            </a:r>
            <a:r>
              <a:rPr sz="1100">
                <a:solidFill>
                  <a:srgbClr val="E4E6ED"/>
                </a:solidFill>
                <a:latin typeface="Arial"/>
              </a:rPr>
              <a:t> AI model calculates predicted premium using actuarial risk factors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861304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3.</a:t>
            </a:r>
            <a:r>
              <a:rPr sz="1100">
                <a:solidFill>
                  <a:srgbClr val="E4E6ED"/>
                </a:solidFill>
                <a:latin typeface="Arial"/>
              </a:rPr>
              <a:t> Risk level and claim probability are computed in real-time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117336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4.</a:t>
            </a:r>
            <a:r>
              <a:rPr sz="1100">
                <a:solidFill>
                  <a:srgbClr val="E4E6ED"/>
                </a:solidFill>
                <a:latin typeface="Arial"/>
              </a:rPr>
              <a:t> Results compared against portfolio averages for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4E6ED"/>
                </a:solidFill>
                <a:latin typeface="Arial"/>
              </a:defRPr>
            </a:pPr>
            <a:r>
              <a:t>What AI Agents Can Do For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3"/>
                </a:solidFill>
                <a:latin typeface="Arial"/>
              </a:defRPr>
            </a:pPr>
            <a:r>
              <a:t>Everything in this demo was generated by Claude Code in a single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4E6E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Arial"/>
              </a:defRPr>
            </a:pPr>
            <a:r>
              <a:t>Data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10K realistic records with</a:t>
            </a:r>
            <a:br/>
            <a:r>
              <a:t>correlated risk factors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2194560" cy="27432"/>
          </a:xfrm>
          <a:prstGeom prst="rect">
            <a:avLst/>
          </a:prstGeom>
          <a:solidFill>
            <a:srgbClr val="2E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8FA3"/>
                </a:solidFill>
                <a:latin typeface="Arial"/>
              </a:defRPr>
            </a:pPr>
            <a:r>
              <a:t>AI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Arial"/>
              </a:defRPr>
            </a:pPr>
            <a:r>
              <a:t>Minutes</a:t>
            </a:r>
            <a:br/>
            <a:r>
              <a:t>vs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55448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49040" y="18288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4E6E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rial"/>
              </a:defRPr>
            </a:pPr>
            <a:r>
              <a:t>Interactive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6 charts, heatmap, filters,</a:t>
            </a:r>
            <a:br/>
            <a:r>
              <a:t>all in one HTML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3840480"/>
            <a:ext cx="2194560" cy="27432"/>
          </a:xfrm>
          <a:prstGeom prst="rect">
            <a:avLst/>
          </a:prstGeom>
          <a:solidFill>
            <a:srgbClr val="2E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40233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8FA3"/>
                </a:solidFill>
                <a:latin typeface="Arial"/>
              </a:defRPr>
            </a:pPr>
            <a:r>
              <a:t>AI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Arial"/>
              </a:defRPr>
            </a:pPr>
            <a:r>
              <a:t>30 min</a:t>
            </a:r>
            <a:br/>
            <a:r>
              <a:t>vs 2+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55448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18288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4E6E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Risk Predictor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What-if calculator for</a:t>
            </a:r>
            <a:br/>
            <a:r>
              <a:t>underwriting scenarios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840480"/>
            <a:ext cx="2194560" cy="27432"/>
          </a:xfrm>
          <a:prstGeom prst="rect">
            <a:avLst/>
          </a:prstGeom>
          <a:solidFill>
            <a:srgbClr val="2E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8FA3"/>
                </a:solidFill>
                <a:latin typeface="Arial"/>
              </a:defRPr>
            </a:pPr>
            <a:r>
              <a:t>AI 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Arial"/>
              </a:defRPr>
            </a:pPr>
            <a:r>
              <a:t>Built-in</a:t>
            </a:r>
            <a:br/>
            <a:r>
              <a:t>vs Custom Dev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155448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155448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18320" y="18288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4E6E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This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FA3"/>
                </a:solidFill>
                <a:latin typeface="Arial"/>
              </a:defRPr>
            </a:pPr>
            <a:r>
              <a:t>Auto-generated from data</a:t>
            </a:r>
            <a:br/>
            <a:r>
              <a:t>with charts &amp; insights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3840480"/>
            <a:ext cx="2194560" cy="27432"/>
          </a:xfrm>
          <a:prstGeom prst="rect">
            <a:avLst/>
          </a:prstGeom>
          <a:solidFill>
            <a:srgbClr val="2E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40233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8FA3"/>
                </a:solidFill>
                <a:latin typeface="Arial"/>
              </a:defRPr>
            </a:pPr>
            <a:r>
              <a:t>AI SPEED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rial"/>
              </a:defRPr>
            </a:pPr>
            <a:r>
              <a:t>5 min</a:t>
            </a:r>
            <a:br/>
            <a:r>
              <a:t>vs Hours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120640"/>
            <a:ext cx="10698480" cy="128016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2E33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Arial"/>
              </a:defRPr>
            </a:pPr>
            <a:r>
              <a:t>Key Takeaway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6ED"/>
                </a:solidFill>
                <a:latin typeface="Arial"/>
              </a:defRPr>
            </a:pPr>
            <a:r>
              <a:t>AI coding agents don't replace developers — they amplify them. What took days now takes minutes, freeing teams to focus on strategy and decision-making.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18CF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18288"/>
          </a:xfrm>
          <a:prstGeom prst="rect">
            <a:avLst/>
          </a:prstGeom>
          <a:solidFill>
            <a:srgbClr val="2E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3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8FA3"/>
                </a:solidFill>
                <a:latin typeface="Arial"/>
              </a:defRPr>
            </a:pPr>
            <a:r>
              <a:t>All materials available: dashboard, data, and this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Arial"/>
              </a:defRPr>
            </a:pPr>
            <a:r>
              <a:t>Powered by Claude Code  |  Anthropic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